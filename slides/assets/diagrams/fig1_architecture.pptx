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29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E62"/>
    <a:srgbClr val="A8B7C9"/>
    <a:srgbClr val="41D4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70"/>
        <p:guide pos="297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0"/>
            </a:avLst>
          </a:prstGeom>
          <a:solidFill>
            <a:srgbClr val="0A1528"/>
          </a:solidFill>
          <a:ln>
            <a:solidFill>
              <a:srgbClr val="0A1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7987" y="203200"/>
            <a:ext cx="8254793" cy="38576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3285" b="1">
                <a:solidFill>
                  <a:srgbClr val="F3F7FC"/>
                </a:solidFill>
                <a:latin typeface="Microsoft YaHei" panose="020B0503020204020204" charset="-122"/>
              </a:defRPr>
            </a:pPr>
            <a:r>
              <a:t>系统架构与信息流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98380" y="93345"/>
            <a:ext cx="1976120" cy="4953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defRPr sz="168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系统设计示意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987" y="793749"/>
            <a:ext cx="11175720" cy="825499"/>
          </a:xfrm>
          <a:prstGeom prst="roundRect">
            <a:avLst>
              <a:gd name="adj" fmla="val 16923"/>
            </a:avLst>
          </a:prstGeom>
          <a:solidFill>
            <a:srgbClr val="14243D"/>
          </a:solidFill>
          <a:ln w="16510">
            <a:solidFill>
              <a:srgbClr val="41D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0231" y="895350"/>
            <a:ext cx="8254793" cy="26574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2265" b="1">
                <a:solidFill>
                  <a:srgbClr val="F3F7FC"/>
                </a:solidFill>
                <a:latin typeface="Microsoft YaHei" panose="020B0503020204020204" charset="-122"/>
              </a:defRPr>
            </a:pPr>
            <a:r>
              <a:t>上帝视角网页界面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1206500"/>
            <a:ext cx="8255000" cy="4343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defRPr sz="175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六张玩家卡 · 阶段与事件时间线 · 自述理由 · 分类标签 · 调用统计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6774" y="946149"/>
            <a:ext cx="2793930" cy="2057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750" b="1">
                <a:solidFill>
                  <a:srgbClr val="41D4D7"/>
                </a:solidFill>
                <a:latin typeface="Microsoft YaHei" panose="020B0503020204020204" charset="-122"/>
              </a:defRPr>
            </a:pPr>
            <a:r>
              <a:t>自动运行 / 暂停 / 单步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6774" y="1212850"/>
            <a:ext cx="2793930" cy="19716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68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只读回放 / 日志导出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7133" y="1778000"/>
            <a:ext cx="8254793" cy="1800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535" b="0">
                <a:solidFill>
                  <a:srgbClr val="41D4D7"/>
                </a:solidFill>
                <a:latin typeface="Microsoft YaHei" panose="020B0503020204020204" charset="-122"/>
              </a:defRPr>
            </a:pPr>
            <a:r>
              <a:t>控制请求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3531" y="1778000"/>
            <a:ext cx="8254793" cy="1800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535" b="0">
                <a:solidFill>
                  <a:srgbClr val="A8B7C9"/>
                </a:solidFill>
                <a:latin typeface="Microsoft YaHei" panose="020B0503020204020204" charset="-122"/>
              </a:defRPr>
            </a:pPr>
            <a:r>
              <a:t>查询 / 回放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987" y="2076449"/>
            <a:ext cx="11175720" cy="2057400"/>
          </a:xfrm>
          <a:prstGeom prst="roundRect">
            <a:avLst>
              <a:gd name="adj" fmla="val 6790"/>
            </a:avLst>
          </a:prstGeom>
          <a:solidFill>
            <a:srgbClr val="14243D"/>
          </a:solidFill>
          <a:ln w="16510">
            <a:solidFill>
              <a:srgbClr val="A8B7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0231" y="2178050"/>
            <a:ext cx="8254793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2335" b="1">
                <a:solidFill>
                  <a:srgbClr val="F3F7FC"/>
                </a:solidFill>
                <a:latin typeface="Microsoft YaHei" panose="020B0503020204020204" charset="-122"/>
              </a:defRPr>
            </a:pPr>
            <a:r>
              <a:t>FastAPI 游戏服务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80272" y="2228850"/>
            <a:ext cx="2793930" cy="19716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68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主持全局真相与权限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482" y="2667000"/>
            <a:ext cx="2508187" cy="1041400"/>
          </a:xfrm>
          <a:prstGeom prst="roundRect">
            <a:avLst>
              <a:gd name="adj" fmla="val 10975"/>
            </a:avLst>
          </a:prstGeom>
          <a:solidFill>
            <a:srgbClr val="1D304D"/>
          </a:solidFill>
          <a:ln w="1651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878" y="2774949"/>
            <a:ext cx="8254793" cy="2400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2045" b="1">
                <a:solidFill>
                  <a:srgbClr val="F3F7FC"/>
                </a:solidFill>
                <a:latin typeface="Microsoft YaHei" panose="020B0503020204020204" charset="-122"/>
              </a:defRPr>
            </a:pPr>
            <a:r>
              <a:t>事件推进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878" y="3117849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创建对局 / 昼夜阶段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878" y="3359149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自动运行与事件边界暂停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0663" y="2667000"/>
            <a:ext cx="2508187" cy="1041400"/>
          </a:xfrm>
          <a:prstGeom prst="roundRect">
            <a:avLst>
              <a:gd name="adj" fmla="val 10975"/>
            </a:avLst>
          </a:prstGeom>
          <a:solidFill>
            <a:srgbClr val="1D304D"/>
          </a:solidFill>
          <a:ln w="1651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13059" y="2774949"/>
            <a:ext cx="8254793" cy="2400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2045" b="1">
                <a:solidFill>
                  <a:srgbClr val="F3F7FC"/>
                </a:solidFill>
                <a:latin typeface="Microsoft YaHei" panose="020B0503020204020204" charset="-122"/>
              </a:defRPr>
            </a:pPr>
            <a:r>
              <a:t>角色上下文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239" y="3095941"/>
            <a:ext cx="2371090" cy="21526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rPr sz="1400"/>
              <a:t>公开事件 + 本人可见私密事件</a:t>
            </a:r>
            <a:endParaRPr sz="1400"/>
          </a:p>
        </p:txBody>
      </p:sp>
      <p:sp>
        <p:nvSpPr>
          <p:cNvPr id="24" name="TextBox 23"/>
          <p:cNvSpPr txBox="1"/>
          <p:nvPr/>
        </p:nvSpPr>
        <p:spPr>
          <a:xfrm>
            <a:off x="3613059" y="3359149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按 agent_id 过滤输入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2844" y="2667000"/>
            <a:ext cx="2508187" cy="1041400"/>
          </a:xfrm>
          <a:prstGeom prst="roundRect">
            <a:avLst>
              <a:gd name="adj" fmla="val 10975"/>
            </a:avLst>
          </a:prstGeom>
          <a:solidFill>
            <a:srgbClr val="1D304D"/>
          </a:solidFill>
          <a:ln w="1651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5240" y="2774949"/>
            <a:ext cx="8254793" cy="2400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2045" b="1">
                <a:solidFill>
                  <a:srgbClr val="F3F7FC"/>
                </a:solidFill>
                <a:latin typeface="Microsoft YaHei" panose="020B0503020204020204" charset="-122"/>
              </a:defRPr>
            </a:pPr>
            <a:r>
              <a:t>确定性规则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5240" y="3117849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行动校验 / 计票 / 胜负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5240" y="3359149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结构化行动为正式依据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85025" y="2667000"/>
            <a:ext cx="2508187" cy="1041400"/>
          </a:xfrm>
          <a:prstGeom prst="roundRect">
            <a:avLst>
              <a:gd name="adj" fmla="val 10975"/>
            </a:avLst>
          </a:prstGeom>
          <a:solidFill>
            <a:srgbClr val="1D304D"/>
          </a:solidFill>
          <a:ln w="16510">
            <a:solidFill>
              <a:srgbClr val="38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7421" y="2774949"/>
            <a:ext cx="8254793" cy="2400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2045" b="1">
                <a:solidFill>
                  <a:srgbClr val="F3F7FC"/>
                </a:solidFill>
                <a:latin typeface="Microsoft YaHei" panose="020B0503020204020204" charset="-122"/>
              </a:defRPr>
            </a:pPr>
            <a:r>
              <a:t>事件与调用记录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7421" y="3117849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events.jsonl / calls.jsonl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7421" y="3359149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状态快照 / 统计 / 原始回放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0231" y="3848099"/>
            <a:ext cx="8254793" cy="18859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605" b="0">
                <a:solidFill>
                  <a:srgbClr val="A8B7C9"/>
                </a:solidFill>
                <a:latin typeface="Microsoft YaHei" panose="020B0503020204020204" charset="-122"/>
              </a:defRPr>
            </a:pPr>
            <a:r>
              <a:t>公开发言与分类结果写入同一事件链；规则程序独立裁决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000" y="4596130"/>
            <a:ext cx="4826000" cy="1703070"/>
          </a:xfrm>
          <a:prstGeom prst="roundRect">
            <a:avLst>
              <a:gd name="adj" fmla="val 9361"/>
            </a:avLst>
          </a:prstGeom>
          <a:solidFill>
            <a:srgbClr val="14243D"/>
          </a:solidFill>
          <a:ln w="16510">
            <a:solidFill>
              <a:srgbClr val="FFB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8482" y="4685665"/>
            <a:ext cx="8254793" cy="24860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2115" b="1">
                <a:solidFill>
                  <a:srgbClr val="F3F7FC"/>
                </a:solidFill>
                <a:latin typeface="Microsoft YaHei" panose="020B0503020204020204" charset="-122"/>
              </a:defRPr>
            </a:pPr>
            <a:r>
              <a:t>六个角色代理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8482" y="4977130"/>
            <a:ext cx="8254793" cy="19716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680" b="0">
                <a:solidFill>
                  <a:srgbClr val="FFBE62"/>
                </a:solidFill>
                <a:latin typeface="Microsoft YaHei" panose="020B0503020204020204" charset="-122"/>
              </a:defRPr>
            </a:pPr>
            <a:r>
              <a:t>2 狼人 · 1 预言家 · 3 平民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200" y="5173980"/>
            <a:ext cx="3199130" cy="539115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defRPr sz="1535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共享 DeepSeek 基础模型；</a:t>
            </a:r>
          </a:p>
          <a:p>
            <a:pPr algn="l">
              <a:defRPr sz="1535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独立提示词、可见历史和私密记忆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182" y="5702300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私密：身份 / 狼队提案 / 查验结果 / 本人自述理由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1182" y="5943600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输出：发言、击杀、查验、投票的结构化行动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56250" y="4596130"/>
            <a:ext cx="2190750" cy="1703070"/>
          </a:xfrm>
          <a:prstGeom prst="roundRect">
            <a:avLst>
              <a:gd name="adj" fmla="val 9361"/>
            </a:avLst>
          </a:prstGeom>
          <a:solidFill>
            <a:srgbClr val="14243D"/>
          </a:solidFill>
          <a:ln w="16510">
            <a:solidFill>
              <a:srgbClr val="FFB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75816" y="4693920"/>
            <a:ext cx="8254793" cy="2400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2045" b="1">
                <a:solidFill>
                  <a:srgbClr val="F3F7FC"/>
                </a:solidFill>
                <a:latin typeface="Microsoft YaHei" panose="020B0503020204020204" charset="-122"/>
              </a:defRPr>
            </a:pPr>
            <a:r>
              <a:t>主持语言代理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27556" y="5071745"/>
            <a:ext cx="8254793" cy="1800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535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仅接收已判定事实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26921" y="5353684"/>
            <a:ext cx="8254793" cy="1800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535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阶段播报 / 提醒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27556" y="5640705"/>
            <a:ext cx="8254793" cy="1800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535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总结与赛后复盘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27556" y="5937249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FFBE62"/>
                </a:solidFill>
                <a:latin typeface="Microsoft YaHei" panose="020B0503020204020204" charset="-122"/>
              </a:defRPr>
            </a:pPr>
            <a:r>
              <a:t>不修改规则事实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69250" y="4554220"/>
            <a:ext cx="3714750" cy="1744980"/>
          </a:xfrm>
          <a:prstGeom prst="roundRect">
            <a:avLst>
              <a:gd name="adj" fmla="val 9361"/>
            </a:avLst>
          </a:prstGeom>
          <a:solidFill>
            <a:srgbClr val="14243D"/>
          </a:solidFill>
          <a:ln w="16510">
            <a:solidFill>
              <a:srgbClr val="41D4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1756" y="4693920"/>
            <a:ext cx="8254793" cy="24003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2045" b="1">
                <a:solidFill>
                  <a:srgbClr val="F3F7FC"/>
                </a:solidFill>
                <a:latin typeface="Microsoft YaHei" panose="020B0503020204020204" charset="-122"/>
              </a:defRPr>
            </a:pPr>
            <a:r>
              <a:t>A：公开发言分析接口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47050" y="4977130"/>
            <a:ext cx="8432165" cy="38989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defRPr sz="1460" b="0">
                <a:solidFill>
                  <a:srgbClr val="41D4D7"/>
                </a:solidFill>
                <a:latin typeface="Microsoft YaHei" panose="020B0503020204020204" charset="-122"/>
              </a:defRPr>
            </a:pPr>
            <a:r>
              <a:rPr sz="1400"/>
              <a:t>输入 game_id / event_id / speaker_id </a:t>
            </a:r>
            <a:endParaRPr sz="1400"/>
          </a:p>
          <a:p>
            <a:pPr algn="l">
              <a:defRPr sz="1460" b="0">
                <a:solidFill>
                  <a:srgbClr val="41D4D7"/>
                </a:solidFill>
                <a:latin typeface="Microsoft YaHei" panose="020B0503020204020204" charset="-122"/>
              </a:defRPr>
            </a:pPr>
            <a:r>
              <a:rPr sz="1400"/>
              <a:t>/ public_text</a:t>
            </a:r>
            <a:endParaRPr sz="1400"/>
          </a:p>
        </p:txBody>
      </p:sp>
      <p:sp>
        <p:nvSpPr>
          <p:cNvPr id="52" name="TextBox 51"/>
          <p:cNvSpPr txBox="1"/>
          <p:nvPr/>
        </p:nvSpPr>
        <p:spPr>
          <a:xfrm>
            <a:off x="8146846" y="5461000"/>
            <a:ext cx="8254793" cy="18002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535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在线：意图分类 + 独立规则实体抽取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46846" y="5702300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输出 intent / 未校准 score / 实体 / 版本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46846" y="5937250"/>
            <a:ext cx="8254793" cy="1714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460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t>离线：数据训练与冻结评估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0231" y="4277519"/>
            <a:ext cx="11430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385" b="0">
                <a:solidFill>
                  <a:srgbClr val="FFBE62"/>
                </a:solidFill>
                <a:latin typeface="Microsoft YaHei" panose="020B0503020204020204" charset="-122"/>
              </a:defRPr>
            </a:pPr>
            <a:r>
              <a:rPr sz="1800"/>
              <a:t>授权上下文</a:t>
            </a:r>
            <a:endParaRPr sz="1800"/>
          </a:p>
        </p:txBody>
      </p:sp>
      <p:sp>
        <p:nvSpPr>
          <p:cNvPr id="58" name="TextBox 57"/>
          <p:cNvSpPr txBox="1"/>
          <p:nvPr/>
        </p:nvSpPr>
        <p:spPr>
          <a:xfrm>
            <a:off x="3251118" y="4277519"/>
            <a:ext cx="11430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385" b="0">
                <a:solidFill>
                  <a:srgbClr val="FFBE62"/>
                </a:solidFill>
                <a:latin typeface="Microsoft YaHei" panose="020B0503020204020204" charset="-122"/>
              </a:defRPr>
            </a:pPr>
            <a:r>
              <a:rPr sz="1800"/>
              <a:t>结构化行动</a:t>
            </a:r>
            <a:endParaRPr sz="1800"/>
          </a:p>
        </p:txBody>
      </p:sp>
      <p:sp>
        <p:nvSpPr>
          <p:cNvPr id="61" name="TextBox 60"/>
          <p:cNvSpPr txBox="1"/>
          <p:nvPr/>
        </p:nvSpPr>
        <p:spPr>
          <a:xfrm>
            <a:off x="5374005" y="4277360"/>
            <a:ext cx="996315" cy="2768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85" b="0">
                <a:solidFill>
                  <a:srgbClr val="FFBE62"/>
                </a:solidFill>
                <a:latin typeface="Microsoft YaHei" panose="020B0503020204020204" charset="-122"/>
              </a:defRPr>
            </a:pPr>
            <a:r>
              <a:rPr sz="1800"/>
              <a:t>判定事实</a:t>
            </a:r>
            <a:endParaRPr sz="1800"/>
          </a:p>
        </p:txBody>
      </p:sp>
      <p:sp>
        <p:nvSpPr>
          <p:cNvPr id="62" name="TextBox 61"/>
          <p:cNvSpPr txBox="1"/>
          <p:nvPr/>
        </p:nvSpPr>
        <p:spPr>
          <a:xfrm>
            <a:off x="7147378" y="4278789"/>
            <a:ext cx="9144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385" b="0">
                <a:solidFill>
                  <a:srgbClr val="FFBE62"/>
                </a:solidFill>
                <a:latin typeface="Microsoft YaHei" panose="020B0503020204020204" charset="-122"/>
              </a:defRPr>
            </a:pPr>
            <a:r>
              <a:rPr sz="1800"/>
              <a:t>主持措辞</a:t>
            </a:r>
            <a:endParaRPr sz="1800"/>
          </a:p>
        </p:txBody>
      </p:sp>
      <p:sp>
        <p:nvSpPr>
          <p:cNvPr id="65" name="TextBox 64"/>
          <p:cNvSpPr txBox="1"/>
          <p:nvPr/>
        </p:nvSpPr>
        <p:spPr>
          <a:xfrm>
            <a:off x="8223046" y="4277519"/>
            <a:ext cx="9144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385" b="0">
                <a:solidFill>
                  <a:srgbClr val="41D4D7"/>
                </a:solidFill>
                <a:latin typeface="Microsoft YaHei" panose="020B0503020204020204" charset="-122"/>
              </a:defRPr>
            </a:pPr>
            <a:r>
              <a:rPr sz="1800"/>
              <a:t>公开发言</a:t>
            </a:r>
            <a:endParaRPr sz="1800"/>
          </a:p>
        </p:txBody>
      </p:sp>
      <p:sp>
        <p:nvSpPr>
          <p:cNvPr id="66" name="TextBox 65"/>
          <p:cNvSpPr txBox="1"/>
          <p:nvPr/>
        </p:nvSpPr>
        <p:spPr>
          <a:xfrm>
            <a:off x="10667733" y="4277519"/>
            <a:ext cx="1143000" cy="27686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385" b="0">
                <a:solidFill>
                  <a:srgbClr val="41D4D7"/>
                </a:solidFill>
                <a:latin typeface="Microsoft YaHei" panose="020B0503020204020204" charset="-122"/>
              </a:defRPr>
            </a:pPr>
            <a:r>
              <a:rPr sz="1800"/>
              <a:t>标签与实体</a:t>
            </a:r>
            <a:endParaRPr sz="1800"/>
          </a:p>
        </p:txBody>
      </p:sp>
      <p:cxnSp>
        <p:nvCxnSpPr>
          <p:cNvPr id="67" name="Connector 66"/>
          <p:cNvCxnSpPr/>
          <p:nvPr/>
        </p:nvCxnSpPr>
        <p:spPr>
          <a:xfrm>
            <a:off x="660383" y="6546849"/>
            <a:ext cx="482588" cy="0"/>
          </a:xfrm>
          <a:prstGeom prst="line">
            <a:avLst/>
          </a:prstGeom>
          <a:ln w="35560">
            <a:solidFill>
              <a:srgbClr val="41D4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231869" y="6448265"/>
            <a:ext cx="812800" cy="2457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385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rPr sz="1600"/>
              <a:t>公开信息</a:t>
            </a:r>
            <a:endParaRPr sz="1600"/>
          </a:p>
        </p:txBody>
      </p:sp>
      <p:cxnSp>
        <p:nvCxnSpPr>
          <p:cNvPr id="69" name="Connector 68"/>
          <p:cNvCxnSpPr/>
          <p:nvPr/>
        </p:nvCxnSpPr>
        <p:spPr>
          <a:xfrm>
            <a:off x="2444688" y="6546849"/>
            <a:ext cx="482588" cy="0"/>
          </a:xfrm>
          <a:prstGeom prst="line">
            <a:avLst/>
          </a:prstGeom>
          <a:ln w="35560">
            <a:solidFill>
              <a:srgbClr val="FFBE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016174" y="6448265"/>
            <a:ext cx="1426845" cy="2457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385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rPr sz="1600"/>
              <a:t>私密 / 授权信息</a:t>
            </a:r>
            <a:endParaRPr sz="1600"/>
          </a:p>
        </p:txBody>
      </p:sp>
      <p:cxnSp>
        <p:nvCxnSpPr>
          <p:cNvPr id="71" name="Connector 70"/>
          <p:cNvCxnSpPr/>
          <p:nvPr/>
        </p:nvCxnSpPr>
        <p:spPr>
          <a:xfrm>
            <a:off x="4794130" y="6546849"/>
            <a:ext cx="482588" cy="0"/>
          </a:xfrm>
          <a:prstGeom prst="line">
            <a:avLst/>
          </a:prstGeom>
          <a:ln w="35560">
            <a:solidFill>
              <a:srgbClr val="A8B7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365615" y="6448265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defRPr sz="1385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rPr sz="1600"/>
              <a:t>规则、日志与只读查询</a:t>
            </a:r>
            <a:endParaRPr sz="1600"/>
          </a:p>
        </p:txBody>
      </p:sp>
      <p:sp>
        <p:nvSpPr>
          <p:cNvPr id="73" name="TextBox 72"/>
          <p:cNvSpPr txBox="1"/>
          <p:nvPr/>
        </p:nvSpPr>
        <p:spPr>
          <a:xfrm>
            <a:off x="8889741" y="6489540"/>
            <a:ext cx="2235200" cy="24574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385" b="0">
                <a:solidFill>
                  <a:srgbClr val="B9C7D9"/>
                </a:solidFill>
                <a:latin typeface="Microsoft YaHei" panose="020B0503020204020204" charset="-122"/>
              </a:defRPr>
            </a:pPr>
            <a:r>
              <a:rPr sz="1600"/>
              <a:t>上帝视角内容不回流角色</a:t>
            </a:r>
            <a:endParaRPr sz="1600"/>
          </a:p>
        </p:txBody>
      </p:sp>
      <p:sp>
        <p:nvSpPr>
          <p:cNvPr id="79" name="燕尾形箭头 78"/>
          <p:cNvSpPr/>
          <p:nvPr/>
        </p:nvSpPr>
        <p:spPr>
          <a:xfrm rot="5400000">
            <a:off x="5353050" y="1706880"/>
            <a:ext cx="457200" cy="292100"/>
          </a:xfrm>
          <a:prstGeom prst="notchedRightArrow">
            <a:avLst/>
          </a:prstGeom>
          <a:solidFill>
            <a:srgbClr val="41D4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0" name="燕尾形箭头 79"/>
          <p:cNvSpPr/>
          <p:nvPr/>
        </p:nvSpPr>
        <p:spPr>
          <a:xfrm rot="5400000">
            <a:off x="9072880" y="4198620"/>
            <a:ext cx="421005" cy="292100"/>
          </a:xfrm>
          <a:prstGeom prst="notchedRightArrow">
            <a:avLst/>
          </a:prstGeom>
          <a:solidFill>
            <a:srgbClr val="41D4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1" name="燕尾形箭头 80"/>
          <p:cNvSpPr/>
          <p:nvPr/>
        </p:nvSpPr>
        <p:spPr>
          <a:xfrm rot="16200000">
            <a:off x="10369550" y="4197350"/>
            <a:ext cx="421640" cy="292100"/>
          </a:xfrm>
          <a:prstGeom prst="notchedRightArrow">
            <a:avLst/>
          </a:prstGeom>
          <a:solidFill>
            <a:srgbClr val="41D4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2" name="燕尾形箭头 81"/>
          <p:cNvSpPr/>
          <p:nvPr/>
        </p:nvSpPr>
        <p:spPr>
          <a:xfrm rot="16200000">
            <a:off x="6369050" y="1695450"/>
            <a:ext cx="457200" cy="292100"/>
          </a:xfrm>
          <a:prstGeom prst="notchedRightArrow">
            <a:avLst/>
          </a:prstGeom>
          <a:solidFill>
            <a:srgbClr val="A8B7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3" name="燕尾形箭头 82"/>
          <p:cNvSpPr/>
          <p:nvPr/>
        </p:nvSpPr>
        <p:spPr>
          <a:xfrm>
            <a:off x="3206115" y="3067050"/>
            <a:ext cx="267335" cy="292100"/>
          </a:xfrm>
          <a:prstGeom prst="notchedRightArrow">
            <a:avLst/>
          </a:prstGeom>
          <a:solidFill>
            <a:srgbClr val="A8B7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4" name="燕尾形箭头 83"/>
          <p:cNvSpPr/>
          <p:nvPr/>
        </p:nvSpPr>
        <p:spPr>
          <a:xfrm>
            <a:off x="5969000" y="3067050"/>
            <a:ext cx="254635" cy="292100"/>
          </a:xfrm>
          <a:prstGeom prst="notchedRightArrow">
            <a:avLst/>
          </a:prstGeom>
          <a:solidFill>
            <a:srgbClr val="A8B7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5" name="燕尾形箭头 84"/>
          <p:cNvSpPr/>
          <p:nvPr/>
        </p:nvSpPr>
        <p:spPr>
          <a:xfrm>
            <a:off x="8763000" y="3067050"/>
            <a:ext cx="254635" cy="292100"/>
          </a:xfrm>
          <a:prstGeom prst="notchedRightArrow">
            <a:avLst/>
          </a:prstGeom>
          <a:solidFill>
            <a:srgbClr val="A8B7C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6" name="燕尾形箭头 85"/>
          <p:cNvSpPr/>
          <p:nvPr/>
        </p:nvSpPr>
        <p:spPr>
          <a:xfrm rot="5400000">
            <a:off x="1808480" y="4238625"/>
            <a:ext cx="421005" cy="292100"/>
          </a:xfrm>
          <a:prstGeom prst="notchedRightArrow">
            <a:avLst/>
          </a:prstGeom>
          <a:solidFill>
            <a:srgbClr val="FFBE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7" name="燕尾形箭头 86"/>
          <p:cNvSpPr/>
          <p:nvPr/>
        </p:nvSpPr>
        <p:spPr>
          <a:xfrm rot="16200000">
            <a:off x="2862580" y="4196715"/>
            <a:ext cx="421005" cy="292100"/>
          </a:xfrm>
          <a:prstGeom prst="notchedRightArrow">
            <a:avLst/>
          </a:prstGeom>
          <a:solidFill>
            <a:srgbClr val="FFBE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8" name="燕尾形箭头 87"/>
          <p:cNvSpPr/>
          <p:nvPr/>
        </p:nvSpPr>
        <p:spPr>
          <a:xfrm rot="16200000">
            <a:off x="6793230" y="4198620"/>
            <a:ext cx="421005" cy="292100"/>
          </a:xfrm>
          <a:prstGeom prst="notchedRightArrow">
            <a:avLst/>
          </a:prstGeom>
          <a:solidFill>
            <a:srgbClr val="FFBE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89" name="燕尾形箭头 88"/>
          <p:cNvSpPr/>
          <p:nvPr/>
        </p:nvSpPr>
        <p:spPr>
          <a:xfrm rot="5400000">
            <a:off x="6235065" y="4198620"/>
            <a:ext cx="421005" cy="292100"/>
          </a:xfrm>
          <a:prstGeom prst="notchedRightArrow">
            <a:avLst/>
          </a:prstGeom>
          <a:solidFill>
            <a:srgbClr val="FFBE6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602</Words>
  <Application>WPS 演示</Application>
  <PresentationFormat>On-screen Show (4:3)</PresentationFormat>
  <Paragraphs>98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</vt:lpstr>
      <vt:lpstr>Microsoft YaHei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qzuser</cp:lastModifiedBy>
  <cp:revision>2</cp:revision>
  <dcterms:created xsi:type="dcterms:W3CDTF">2013-01-27T09:14:00Z</dcterms:created>
  <dcterms:modified xsi:type="dcterms:W3CDTF">2026-10-25T02:20:25Z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A5F249DAD4E84EE4840EBB2D68516EA0_12</vt:lpwstr>
  </property>
  <property fmtid="{D5CDD505-2E9C-101B-9397-08002B2CF9AE}" pid="3" name="KSOProductBuildVer">
    <vt:lpwstr>2052-12.1.0.23542</vt:lpwstr>
  </property>
</Properties>
</file>